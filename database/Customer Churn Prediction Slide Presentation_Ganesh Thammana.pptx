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57" r:id="rId4"/>
    <p:sldId id="258" r:id="rId5"/>
    <p:sldId id="259" r:id="rId6"/>
    <p:sldId id="275" r:id="rId7"/>
    <p:sldId id="260" r:id="rId8"/>
    <p:sldId id="274" r:id="rId9"/>
    <p:sldId id="261" r:id="rId10"/>
    <p:sldId id="270" r:id="rId11"/>
    <p:sldId id="262" r:id="rId12"/>
    <p:sldId id="271" r:id="rId13"/>
    <p:sldId id="263" r:id="rId14"/>
    <p:sldId id="272" r:id="rId15"/>
    <p:sldId id="273" r:id="rId16"/>
    <p:sldId id="276" r:id="rId17"/>
    <p:sldId id="277" r:id="rId18"/>
    <p:sldId id="264" r:id="rId19"/>
    <p:sldId id="279" r:id="rId20"/>
    <p:sldId id="280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2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1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6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58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421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0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816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7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58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2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8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3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16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76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891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886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0024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7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400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63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5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12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26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78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581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0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187D-9643-9B7D-3BE4-CD7C019B0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53090-2DD1-0784-309B-03576B29B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E4747-216F-F6C7-922C-17C0FA2F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10126-310B-0592-7857-BCFF78E0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EBA7-348F-4A4E-76AF-A1DB62D8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604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9DE-6A14-C50A-F0E3-8AE22F13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39D6B-1379-35B7-35BA-B9BA689B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94679-E52C-1E5B-FF79-31DC0877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4634E-37F9-9105-9E28-E3D75B31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F6E8-7D4A-FDE8-2677-AC7E03DC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D663448F-B1B7-41B6-8EF7-B4B7F7D41AB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B32F62A5-7CE2-48E2-A32A-05F9E62C0C4C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37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thammana-spec/MSDS640-coursework/tree/main/database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rporate Banking Stock Photos, Images and Backgrounds for Free Download">
            <a:extLst>
              <a:ext uri="{FF2B5EF4-FFF2-40B4-BE49-F238E27FC236}">
                <a16:creationId xmlns:a16="http://schemas.microsoft.com/office/drawing/2014/main" id="{EB10DAA9-89A5-389F-F2AB-9A39B80FE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112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968A6-DE7E-ABD3-43ED-4A315AF15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Customer Churn Prediction in Banking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FDE5B-20D7-6CEA-C9F5-E46D4949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629" y="4159404"/>
            <a:ext cx="10602685" cy="2415567"/>
          </a:xfrm>
        </p:spPr>
        <p:txBody>
          <a:bodyPr>
            <a:normAutofit lnSpcReduction="10000"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Leveraging Machine Learning to Reduce Customer Attrition</a:t>
            </a:r>
          </a:p>
          <a:p>
            <a:endParaRPr lang="en-US" sz="3000" dirty="0">
              <a:solidFill>
                <a:srgbClr val="FFFFFF"/>
              </a:solidFill>
            </a:endParaRPr>
          </a:p>
          <a:p>
            <a:endParaRPr lang="en-US" sz="3000" dirty="0">
              <a:solidFill>
                <a:srgbClr val="FFFFFF"/>
              </a:solidFill>
            </a:endParaRPr>
          </a:p>
          <a:p>
            <a:r>
              <a:rPr lang="en-US" sz="3000" dirty="0">
                <a:solidFill>
                  <a:srgbClr val="FFFFFF"/>
                </a:solidFill>
              </a:rPr>
              <a:t>Ganesh Thammana</a:t>
            </a:r>
          </a:p>
        </p:txBody>
      </p:sp>
    </p:spTree>
    <p:extLst>
      <p:ext uri="{BB962C8B-B14F-4D97-AF65-F5344CB8AC3E}">
        <p14:creationId xmlns:p14="http://schemas.microsoft.com/office/powerpoint/2010/main" val="4176017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FD0D-7C26-35B4-C59F-154F95BA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E1C8-47A5-BCC8-3D38-D8B7E689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584990"/>
            <a:ext cx="10195560" cy="1116811"/>
          </a:xfrm>
        </p:spPr>
        <p:txBody>
          <a:bodyPr>
            <a:normAutofit/>
          </a:bodyPr>
          <a:lstStyle/>
          <a:p>
            <a:r>
              <a:rPr lang="en-US" dirty="0" err="1"/>
              <a:t>OUTLIne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B181B-4748-D7E6-AB66-E54728BFF6E1}"/>
              </a:ext>
            </a:extLst>
          </p:cNvPr>
          <p:cNvSpPr txBox="1"/>
          <p:nvPr/>
        </p:nvSpPr>
        <p:spPr>
          <a:xfrm>
            <a:off x="253746" y="1951672"/>
            <a:ext cx="61401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Challenge of Customer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Hypothesis and Research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Approach and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Dataset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Preprocessing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Exceptional Model Performance Achieved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Statistical Significance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Hypothesis Confirmed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Churn Predictors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Strategic Recommendations for Churn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Limitations &amp; Bias Mitigation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Steps &amp; Future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Summary &amp; Impact</a:t>
            </a:r>
          </a:p>
        </p:txBody>
      </p:sp>
    </p:spTree>
    <p:extLst>
      <p:ext uri="{BB962C8B-B14F-4D97-AF65-F5344CB8AC3E}">
        <p14:creationId xmlns:p14="http://schemas.microsoft.com/office/powerpoint/2010/main" val="315104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6F0A-662A-69BD-0F13-4BC8B2E6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584990"/>
            <a:ext cx="10195560" cy="1116811"/>
          </a:xfrm>
        </p:spPr>
        <p:txBody>
          <a:bodyPr>
            <a:normAutofit fontScale="90000"/>
          </a:bodyPr>
          <a:lstStyle/>
          <a:p>
            <a:r>
              <a:rPr lang="en-US" dirty="0"/>
              <a:t>The Challenge of Customer Churn</a:t>
            </a:r>
          </a:p>
        </p:txBody>
      </p:sp>
      <p:pic>
        <p:nvPicPr>
          <p:cNvPr id="7" name="Picture 6" descr="Customer funnel icon outline vector. Lead conversion 15659908 Vector Art at  Vecteezy">
            <a:extLst>
              <a:ext uri="{FF2B5EF4-FFF2-40B4-BE49-F238E27FC236}">
                <a16:creationId xmlns:a16="http://schemas.microsoft.com/office/drawing/2014/main" id="{0450B042-F755-1A37-D718-D2B92154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608" y="262510"/>
            <a:ext cx="1351406" cy="135140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F7E235-3AE6-3035-E237-7EF03D260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604995"/>
              </p:ext>
            </p:extLst>
          </p:nvPr>
        </p:nvGraphicFramePr>
        <p:xfrm>
          <a:off x="870711" y="1939608"/>
          <a:ext cx="1003808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865">
                  <a:extLst>
                    <a:ext uri="{9D8B030D-6E8A-4147-A177-3AD203B41FA5}">
                      <a16:colId xmlns:a16="http://schemas.microsoft.com/office/drawing/2014/main" val="3590258428"/>
                    </a:ext>
                  </a:extLst>
                </a:gridCol>
                <a:gridCol w="7443216">
                  <a:extLst>
                    <a:ext uri="{9D8B030D-6E8A-4147-A177-3AD203B41FA5}">
                      <a16:colId xmlns:a16="http://schemas.microsoft.com/office/drawing/2014/main" val="1005407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Customer Acquisition </a:t>
                      </a:r>
                      <a:endParaRPr 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Costs 5-7x more than retention in banking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8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Baseline Churn Rate</a:t>
                      </a:r>
                      <a:endParaRPr lang="en-US" sz="2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effectLst/>
                        </a:rPr>
                        <a:t>16.07% (1 in 6 customers)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795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Dataset</a:t>
                      </a:r>
                      <a:endParaRPr lang="en-US" sz="2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effectLst/>
                        </a:rPr>
                        <a:t>8,101 customer records with 98 behavioral and demographic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74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</a:rPr>
                        <a:t>Revenue Impact</a:t>
                      </a:r>
                      <a:endParaRPr lang="en-US" sz="2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effectLst/>
                        </a:rPr>
                        <a:t>Losing 1,302 customers represents significant market share erosion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183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02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3D41-C2A8-E9CE-9952-E6252C6E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98804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Hypothesis &amp;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739F-938B-AEA3-2411-2DDE7D81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825625"/>
            <a:ext cx="11722608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3600" b="1" dirty="0"/>
              <a:t>Hypothesis</a:t>
            </a:r>
            <a:r>
              <a:rPr lang="en-US" sz="3600" dirty="0"/>
              <a:t>: Customers with lower engagement (shorter tenure, fewer banking products, lower balances, and inactive accounts) are more likely to churn than highly engaged customers</a:t>
            </a:r>
          </a:p>
          <a:p>
            <a:pPr lvl="0"/>
            <a:r>
              <a:rPr lang="en-US" sz="3600" b="1" dirty="0"/>
              <a:t>Research Approach</a:t>
            </a:r>
            <a:r>
              <a:rPr lang="en-US" sz="3600" dirty="0"/>
              <a:t>: Binary classification using supervised machine learning</a:t>
            </a:r>
          </a:p>
          <a:p>
            <a:pPr lvl="0"/>
            <a:r>
              <a:rPr lang="en-US" sz="3600" b="1" dirty="0"/>
              <a:t>Success Criteria</a:t>
            </a:r>
            <a:r>
              <a:rPr lang="en-US" sz="3600" dirty="0"/>
              <a:t>: Achieve ROC-AUC &gt; 0.85 and identify actionable churn predictors</a:t>
            </a:r>
          </a:p>
        </p:txBody>
      </p:sp>
    </p:spTree>
    <p:extLst>
      <p:ext uri="{BB962C8B-B14F-4D97-AF65-F5344CB8AC3E}">
        <p14:creationId xmlns:p14="http://schemas.microsoft.com/office/powerpoint/2010/main" val="108688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BD97-1EFD-8806-302E-A24C4E16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Technical 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36A6-9611-E28B-684B-BFC923F9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Preprocessing</a:t>
            </a:r>
            <a:r>
              <a:rPr lang="en-US" dirty="0"/>
              <a:t>: Handled missing values, SMOTE for class imbalance, </a:t>
            </a:r>
            <a:r>
              <a:rPr lang="en-US" dirty="0" err="1"/>
              <a:t>StandardScaler</a:t>
            </a:r>
            <a:r>
              <a:rPr lang="en-US" dirty="0"/>
              <a:t>, removed data leakage features</a:t>
            </a:r>
          </a:p>
          <a:p>
            <a:r>
              <a:rPr lang="en-US" b="1" dirty="0"/>
              <a:t>Feature Engineering</a:t>
            </a:r>
            <a:r>
              <a:rPr lang="en-US" dirty="0"/>
              <a:t>: Created digital engagement index, CLV, tenure bins, product diversity score</a:t>
            </a:r>
          </a:p>
          <a:p>
            <a:r>
              <a:rPr lang="en-US" b="1" dirty="0"/>
              <a:t>Models Evaluated</a:t>
            </a:r>
            <a:r>
              <a:rPr lang="en-US" dirty="0"/>
              <a:t>: Logistic Regression, </a:t>
            </a:r>
            <a:r>
              <a:rPr lang="en-US" dirty="0" err="1"/>
              <a:t>XGBoost</a:t>
            </a:r>
            <a:r>
              <a:rPr lang="en-US" dirty="0"/>
              <a:t>, Random Forest, SVM</a:t>
            </a:r>
          </a:p>
          <a:p>
            <a:r>
              <a:rPr lang="en-US" b="1" dirty="0"/>
              <a:t>Hyperparameter Tuning</a:t>
            </a:r>
            <a:r>
              <a:rPr lang="en-US" dirty="0"/>
              <a:t>: </a:t>
            </a:r>
            <a:r>
              <a:rPr lang="en-US" dirty="0" err="1"/>
              <a:t>GridSearchCV</a:t>
            </a:r>
            <a:r>
              <a:rPr lang="en-US" dirty="0"/>
              <a:t> with 5-fold CV; tuned </a:t>
            </a:r>
            <a:r>
              <a:rPr lang="en-US" dirty="0" err="1"/>
              <a:t>max_depth</a:t>
            </a:r>
            <a:r>
              <a:rPr lang="en-US" dirty="0"/>
              <a:t>, </a:t>
            </a:r>
            <a:r>
              <a:rPr lang="en-US" dirty="0" err="1"/>
              <a:t>learning_rate</a:t>
            </a:r>
            <a:r>
              <a:rPr lang="en-US" dirty="0"/>
              <a:t>, C, penalty</a:t>
            </a:r>
          </a:p>
          <a:p>
            <a:r>
              <a:rPr lang="en-US" b="1" dirty="0"/>
              <a:t>Evaluation Metrics</a:t>
            </a:r>
            <a:r>
              <a:rPr lang="en-US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ROC-AUC</a:t>
            </a:r>
            <a:r>
              <a:rPr lang="en-US" dirty="0"/>
              <a:t>: Optimal for imbalanced data; measures discrimination 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F1-Score</a:t>
            </a:r>
            <a:r>
              <a:rPr lang="en-US" dirty="0"/>
              <a:t>: Balances precision and recall for churn class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Precision/Recall</a:t>
            </a:r>
            <a:r>
              <a:rPr lang="en-US" dirty="0"/>
              <a:t>: Business trade-off between false alarms vs. missed churners</a:t>
            </a:r>
          </a:p>
          <a:p>
            <a:r>
              <a:rPr lang="en-US" b="1" dirty="0"/>
              <a:t>Validation</a:t>
            </a:r>
            <a:r>
              <a:rPr lang="en-US" dirty="0"/>
              <a:t>: 5-fold cross-validation with paired t-tests for statistical significance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22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B731-C485-FDF0-96EC-71D95EA6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7A2B6C-52BE-BFEC-DBD1-D66AD2209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97533"/>
              </p:ext>
            </p:extLst>
          </p:nvPr>
        </p:nvGraphicFramePr>
        <p:xfrm>
          <a:off x="449469" y="4910378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042511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562914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35776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9736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Untuned 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Tuned 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23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XGBoost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+0.87%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7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+1.08%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284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121EE6-990A-920F-BF94-FF5394BB0C3C}"/>
              </a:ext>
            </a:extLst>
          </p:cNvPr>
          <p:cNvSpPr txBox="1"/>
          <p:nvPr/>
        </p:nvSpPr>
        <p:spPr>
          <a:xfrm>
            <a:off x="292608" y="1807169"/>
            <a:ext cx="99852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Tuning Strategy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GridSearchCV</a:t>
            </a:r>
            <a:r>
              <a:rPr lang="en-US" dirty="0">
                <a:effectLst/>
              </a:rPr>
              <a:t> with 5-fold cross-validation</a:t>
            </a:r>
          </a:p>
          <a:p>
            <a:pPr>
              <a:buNone/>
            </a:pPr>
            <a:r>
              <a:rPr lang="en-US" b="1" dirty="0" err="1">
                <a:effectLst/>
              </a:rPr>
              <a:t>XGBoost</a:t>
            </a:r>
            <a:r>
              <a:rPr lang="en-US" b="1" dirty="0">
                <a:effectLst/>
              </a:rPr>
              <a:t> Parameters Tuned:</a:t>
            </a:r>
            <a:endParaRPr lang="en-US" dirty="0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max_depth</a:t>
            </a:r>
            <a:r>
              <a:rPr lang="en-US" dirty="0">
                <a:effectLst/>
              </a:rPr>
              <a:t> (3, 5, 7): Controls tree complexity; deeper trees capture interactions but risk overfitting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learning_rate</a:t>
            </a:r>
            <a:r>
              <a:rPr lang="en-US" dirty="0">
                <a:effectLst/>
              </a:rPr>
              <a:t> (0.01, 0.1, 0.3): Step size for weight updates; lower = slower but more precise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n_estimators</a:t>
            </a:r>
            <a:r>
              <a:rPr lang="en-US" dirty="0">
                <a:effectLst/>
              </a:rPr>
              <a:t> (100, 200, 300): Number of boosting rounds; more trees improve fit but increase computation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</a:rPr>
              <a:t>min_child_weight</a:t>
            </a:r>
            <a:r>
              <a:rPr lang="en-US" dirty="0">
                <a:effectLst/>
              </a:rPr>
              <a:t> (1, 3, 5): Minimum samples per leaf; higher values prevent overfitting</a:t>
            </a:r>
          </a:p>
          <a:p>
            <a:pPr>
              <a:buNone/>
            </a:pPr>
            <a:r>
              <a:rPr lang="en-US" b="1" dirty="0">
                <a:effectLst/>
              </a:rPr>
              <a:t>Logistic Regression Parameters Tuned:</a:t>
            </a:r>
            <a:endParaRPr lang="en-US" dirty="0"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C</a:t>
            </a:r>
            <a:r>
              <a:rPr lang="en-US" dirty="0">
                <a:effectLst/>
              </a:rPr>
              <a:t> (0.01, 0.1, 1, 10): Inverse regularization strength; lower C = stronger penalty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penalty</a:t>
            </a:r>
            <a:r>
              <a:rPr lang="en-US" dirty="0">
                <a:effectLst/>
              </a:rPr>
              <a:t> (L1, L2): L1 for feature selection, L2 for coefficient shrinkage</a:t>
            </a:r>
          </a:p>
          <a:p>
            <a:pPr>
              <a:buNone/>
            </a:pPr>
            <a:r>
              <a:rPr lang="en-US" b="1" dirty="0">
                <a:effectLst/>
              </a:rPr>
              <a:t>Performance Improvement:</a:t>
            </a:r>
            <a:endParaRPr lang="en-US" dirty="0">
              <a:effectLst/>
            </a:endParaRPr>
          </a:p>
          <a:p>
            <a:pPr>
              <a:buNone/>
            </a:pPr>
            <a:endParaRPr lang="en-US" b="1" dirty="0">
              <a:effectLst/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>
              <a:effectLst/>
            </a:endParaRP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>
              <a:effectLst/>
            </a:endParaRPr>
          </a:p>
          <a:p>
            <a:pPr>
              <a:buNone/>
            </a:pPr>
            <a:r>
              <a:rPr lang="en-US" b="1" dirty="0">
                <a:effectLst/>
              </a:rPr>
              <a:t>Final Parameters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XGBoost</a:t>
            </a:r>
            <a:r>
              <a:rPr lang="en-US" dirty="0">
                <a:effectLst/>
              </a:rPr>
              <a:t> (</a:t>
            </a:r>
            <a:r>
              <a:rPr lang="en-US" dirty="0" err="1">
                <a:effectLst/>
              </a:rPr>
              <a:t>max_depth</a:t>
            </a:r>
            <a:r>
              <a:rPr lang="en-US" dirty="0">
                <a:effectLst/>
              </a:rPr>
              <a:t>=5, </a:t>
            </a:r>
            <a:r>
              <a:rPr lang="en-US" dirty="0" err="1">
                <a:effectLst/>
              </a:rPr>
              <a:t>lr</a:t>
            </a:r>
            <a:r>
              <a:rPr lang="en-US" dirty="0">
                <a:effectLst/>
              </a:rPr>
              <a:t>=0.1, </a:t>
            </a:r>
            <a:r>
              <a:rPr lang="en-US" dirty="0" err="1">
                <a:effectLst/>
              </a:rPr>
              <a:t>n_est</a:t>
            </a:r>
            <a:r>
              <a:rPr lang="en-US" dirty="0">
                <a:effectLst/>
              </a:rPr>
              <a:t>=200); </a:t>
            </a:r>
            <a:r>
              <a:rPr lang="en-US" dirty="0" err="1">
                <a:effectLst/>
              </a:rPr>
              <a:t>LogReg</a:t>
            </a:r>
            <a:r>
              <a:rPr lang="en-US" dirty="0">
                <a:effectLst/>
              </a:rPr>
              <a:t> (C=1, L2 penalty)</a:t>
            </a:r>
          </a:p>
        </p:txBody>
      </p:sp>
    </p:spTree>
    <p:extLst>
      <p:ext uri="{BB962C8B-B14F-4D97-AF65-F5344CB8AC3E}">
        <p14:creationId xmlns:p14="http://schemas.microsoft.com/office/powerpoint/2010/main" val="250049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C3AF-C710-876B-A0F7-E8077371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Dataset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9192-B497-8E2F-F76C-7E9344786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Total Records</a:t>
            </a:r>
            <a:r>
              <a:rPr lang="en-US" dirty="0"/>
              <a:t>: 8,101 customers</a:t>
            </a:r>
          </a:p>
          <a:p>
            <a:pPr lvl="0"/>
            <a:r>
              <a:rPr lang="en-US" b="1" dirty="0"/>
              <a:t>Features</a:t>
            </a:r>
            <a:r>
              <a:rPr lang="en-US" dirty="0"/>
              <a:t>: 98 (demographic, behavioral, transactional, engagement metrics)</a:t>
            </a:r>
          </a:p>
          <a:p>
            <a:pPr lvl="0"/>
            <a:r>
              <a:rPr lang="en-US" b="1" dirty="0"/>
              <a:t>Target Distribution</a:t>
            </a:r>
            <a:r>
              <a:rPr lang="en-US" dirty="0"/>
              <a:t>: 83.93% retained, 16.07% churned (imbalanced)</a:t>
            </a:r>
          </a:p>
          <a:p>
            <a:pPr lvl="0"/>
            <a:r>
              <a:rPr lang="en-US" b="1" dirty="0"/>
              <a:t>Missing Data</a:t>
            </a:r>
            <a:r>
              <a:rPr lang="en-US" dirty="0"/>
              <a:t>: Only 1 feature (</a:t>
            </a:r>
            <a:r>
              <a:rPr lang="en-US" dirty="0" err="1"/>
              <a:t>app_rating_given</a:t>
            </a:r>
            <a:r>
              <a:rPr lang="en-US" dirty="0"/>
              <a:t>) with 56% missing values</a:t>
            </a:r>
          </a:p>
          <a:p>
            <a:pPr lvl="0"/>
            <a:r>
              <a:rPr lang="en-US" b="1" dirty="0"/>
              <a:t>Key Predictors Identified</a:t>
            </a:r>
            <a:r>
              <a:rPr lang="en-US" dirty="0"/>
              <a:t>: Satisfaction score, NPS score, digital engagement index, tenure, product 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4262-D45C-2FFF-C9D1-D1963E8F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Preprocessing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3E9F-5422-8CE4-74ED-847BF1108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Preprocessing Steps: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Missing Values</a:t>
            </a:r>
            <a:r>
              <a:rPr lang="en-US" dirty="0"/>
              <a:t>: Imputed </a:t>
            </a:r>
            <a:r>
              <a:rPr lang="en-US" dirty="0" err="1"/>
              <a:t>app_rating_given</a:t>
            </a:r>
            <a:r>
              <a:rPr lang="en-US" dirty="0"/>
              <a:t> (56% missing) using median; dropped features with &gt;70% missing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Class Imbalance</a:t>
            </a:r>
            <a:r>
              <a:rPr lang="en-US" dirty="0"/>
              <a:t>: Applied SMOTE (Synthetic Minority Over-sampling) to balance 16% churn class in training data only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Feature Scaling</a:t>
            </a:r>
            <a:r>
              <a:rPr lang="en-US" dirty="0"/>
              <a:t>: </a:t>
            </a:r>
            <a:r>
              <a:rPr lang="en-US" dirty="0" err="1"/>
              <a:t>StandardScaler</a:t>
            </a:r>
            <a:r>
              <a:rPr lang="en-US" dirty="0"/>
              <a:t> applied to numerical features for SVM and Logistic Regression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Encoding</a:t>
            </a:r>
            <a:r>
              <a:rPr lang="en-US" dirty="0"/>
              <a:t>: One-hot encoding for categorical variables (geography, gender, </a:t>
            </a:r>
            <a:r>
              <a:rPr lang="en-US" dirty="0" err="1"/>
              <a:t>card_type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Data Leakage Prevention</a:t>
            </a:r>
            <a:r>
              <a:rPr lang="en-US" dirty="0"/>
              <a:t>: Removed post-churn features (e.g., </a:t>
            </a:r>
            <a:r>
              <a:rPr lang="en-US" dirty="0" err="1"/>
              <a:t>exit_survey_satisfaction</a:t>
            </a:r>
            <a:r>
              <a:rPr lang="en-US" dirty="0"/>
              <a:t> collected after churn)</a:t>
            </a:r>
          </a:p>
          <a:p>
            <a:r>
              <a:rPr lang="en-US" b="1" dirty="0"/>
              <a:t>Feature Engineering: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Digital Engagement Index</a:t>
            </a:r>
            <a:r>
              <a:rPr lang="en-US" dirty="0"/>
              <a:t>: Combined </a:t>
            </a:r>
            <a:r>
              <a:rPr lang="en-US" dirty="0" err="1"/>
              <a:t>mobile_logins</a:t>
            </a:r>
            <a:r>
              <a:rPr lang="en-US" dirty="0"/>
              <a:t>, </a:t>
            </a:r>
            <a:r>
              <a:rPr lang="en-US" dirty="0" err="1"/>
              <a:t>web_logins</a:t>
            </a:r>
            <a:r>
              <a:rPr lang="en-US" dirty="0"/>
              <a:t>, </a:t>
            </a:r>
            <a:r>
              <a:rPr lang="en-US" dirty="0" err="1"/>
              <a:t>app_usage_frequency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Customer Lifetime Value</a:t>
            </a:r>
            <a:r>
              <a:rPr lang="en-US" dirty="0"/>
              <a:t>: Calculated from balance × tenure × </a:t>
            </a:r>
            <a:r>
              <a:rPr lang="en-US" dirty="0" err="1"/>
              <a:t>product_count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Tenure Bins</a:t>
            </a:r>
            <a:r>
              <a:rPr lang="en-US" dirty="0"/>
              <a:t>: Grouped into &lt;12mo, 12-24mo, 24-48mo, &gt;48mo for non-linear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Product Diversity Score</a:t>
            </a:r>
            <a:r>
              <a:rPr lang="en-US" dirty="0"/>
              <a:t>: Weighted count of banking products used</a:t>
            </a:r>
          </a:p>
          <a:p>
            <a:r>
              <a:rPr lang="en-US" b="1" dirty="0"/>
              <a:t>Train/Test Split</a:t>
            </a:r>
            <a:r>
              <a:rPr lang="en-US" dirty="0"/>
              <a:t>: 80/20 stratified split; SMOTE applied only to training set to prevent leakage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27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DE48-869B-8B5B-5170-8C595B5A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Exceptional Model Performance Achieved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1C1433-9DFA-C09A-D3BD-C9AF432E71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381633"/>
              </p:ext>
            </p:extLst>
          </p:nvPr>
        </p:nvGraphicFramePr>
        <p:xfrm>
          <a:off x="838200" y="2273078"/>
          <a:ext cx="10515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8836697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707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635339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24032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8249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29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0.9884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0.9808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819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0.9885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0.9847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13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0.9846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0.9770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04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0.9497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0.9042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01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Naive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0.0000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0.0000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20413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56FEB4-C5C0-A99F-4EAD-051825A06C00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4803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Performance Comparison Table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models significantly outperform naive baseline</a:t>
            </a:r>
          </a:p>
          <a:p>
            <a:pPr lvl="0"/>
            <a:r>
              <a:rPr lang="en-US" dirty="0" err="1"/>
              <a:t>XGBoost</a:t>
            </a:r>
            <a:r>
              <a:rPr lang="en-US" dirty="0"/>
              <a:t> achieved highest ROC-AUC (0.9999)</a:t>
            </a:r>
          </a:p>
          <a:p>
            <a:pPr lvl="0"/>
            <a:r>
              <a:rPr lang="en-US" dirty="0"/>
              <a:t>Logistic Regression offers best balance of performance and interpretability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02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153C24-69E6-07AA-1B9E-BBFFC875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76209"/>
            <a:ext cx="11892807" cy="630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1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1527-5F6D-FF6E-8E84-E07CD75B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Significance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34BA-C748-DE47-7A95-5CA9C94E5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2061469"/>
            <a:ext cx="11713464" cy="4714235"/>
          </a:xfrm>
        </p:spPr>
        <p:txBody>
          <a:bodyPr>
            <a:normAutofit/>
          </a:bodyPr>
          <a:lstStyle/>
          <a:p>
            <a:r>
              <a:rPr lang="en-US" sz="1200" b="1" dirty="0"/>
              <a:t>Test Used</a:t>
            </a:r>
            <a:r>
              <a:rPr lang="en-US" sz="1200" dirty="0"/>
              <a:t>: Paired t-test on 5-fold cross-validation ROC-AUC scores</a:t>
            </a:r>
          </a:p>
          <a:p>
            <a:r>
              <a:rPr lang="en-US" sz="1200" b="1" dirty="0"/>
              <a:t>Why Paired t-test?</a:t>
            </a: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Same data folds used across all models (paired observations)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Assumes normally distributed fold scores (verified via Shapiro-Wilk test)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Appropriate for comparing two models on same dataset</a:t>
            </a:r>
          </a:p>
          <a:p>
            <a:r>
              <a:rPr lang="en-US" sz="1200" b="1" dirty="0"/>
              <a:t>Key Findings:</a:t>
            </a:r>
            <a:endParaRPr lang="en-US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Logistic Regression vs. Random Forest: p = 0.073 (not significant at α=0.05)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Logistic Regression vs. SVM: p = 0.098 (not significant)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Random Forest vs. SVM: p = 0.263 (not significant)</a:t>
            </a:r>
          </a:p>
          <a:p>
            <a:r>
              <a:rPr lang="en-US" sz="1200" b="1" dirty="0"/>
              <a:t>Interpretation</a:t>
            </a:r>
            <a:r>
              <a:rPr lang="en-US" sz="1200" dirty="0"/>
              <a:t>: No statistically significant differences between top models, indicating robust performance across algorithms</a:t>
            </a:r>
          </a:p>
          <a:p>
            <a:r>
              <a:rPr lang="en-US" sz="1200" b="1" dirty="0"/>
              <a:t>95% Confidence Intervals</a:t>
            </a:r>
            <a:r>
              <a:rPr lang="en-US" sz="12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XGBoost</a:t>
            </a:r>
            <a:r>
              <a:rPr lang="en-US" sz="1200" dirty="0"/>
              <a:t>: [0.9997, 1.0000]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Logistic Regression: [0.9993, 0.9998]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All models show tight CIs around mean ROC-AUC, confirming stability</a:t>
            </a:r>
          </a:p>
          <a:p>
            <a:pPr lvl="0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4689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CBC263-6848-C25D-AF36-06C41B22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53198"/>
            <a:ext cx="11909669" cy="490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7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7A2B-9686-E46F-648E-26D5F86A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Confirmed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D6C0-33A6-F944-374E-C19E502FE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Original Hypothesis</a:t>
            </a:r>
            <a:r>
              <a:rPr lang="en-US" dirty="0"/>
              <a:t>: Lower engagement → Higher churn probability</a:t>
            </a:r>
          </a:p>
          <a:p>
            <a:pPr lvl="0"/>
            <a:r>
              <a:rPr lang="en-US" b="1" dirty="0"/>
              <a:t>Evidence</a:t>
            </a:r>
            <a:r>
              <a:rPr lang="en-US" dirty="0"/>
              <a:t>:</a:t>
            </a:r>
          </a:p>
          <a:p>
            <a:pPr lvl="1"/>
            <a:r>
              <a:rPr lang="en-US" i="0" dirty="0"/>
              <a:t>Satisfaction score: Strong negative correlation with churn</a:t>
            </a:r>
          </a:p>
          <a:p>
            <a:pPr lvl="1"/>
            <a:r>
              <a:rPr lang="en-US" i="0" dirty="0"/>
              <a:t>NPS score: Detractors (&lt; 0) show 3x higher churn rate</a:t>
            </a:r>
          </a:p>
          <a:p>
            <a:pPr lvl="1"/>
            <a:r>
              <a:rPr lang="en-US" i="0" dirty="0"/>
              <a:t>Digital engagement index: Low engagement customers churn at 2.5x rate</a:t>
            </a:r>
          </a:p>
          <a:p>
            <a:pPr lvl="1"/>
            <a:r>
              <a:rPr lang="en-US" i="0" dirty="0"/>
              <a:t>Tenure: Customers with &lt; 24 months tenure have elevated churn risk</a:t>
            </a:r>
          </a:p>
          <a:p>
            <a:pPr lvl="1"/>
            <a:r>
              <a:rPr lang="en-US" i="0" dirty="0"/>
              <a:t>Product count: Single-product customers churn at higher rates</a:t>
            </a:r>
          </a:p>
          <a:p>
            <a:pPr lvl="0"/>
            <a:r>
              <a:rPr lang="en-US" b="1" dirty="0"/>
              <a:t>Conclusion</a:t>
            </a:r>
            <a:r>
              <a:rPr lang="en-US" dirty="0"/>
              <a:t>: Engagement metrics are highly predictive of churn behavior</a:t>
            </a:r>
          </a:p>
        </p:txBody>
      </p:sp>
    </p:spTree>
    <p:extLst>
      <p:ext uri="{BB962C8B-B14F-4D97-AF65-F5344CB8AC3E}">
        <p14:creationId xmlns:p14="http://schemas.microsoft.com/office/powerpoint/2010/main" val="132714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A01D2F-5C87-2E9A-1566-C6806CD85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123933"/>
            <a:ext cx="9976103" cy="66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1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357969-8C41-A12E-8E25-81B51A79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9443"/>
            <a:ext cx="6473951" cy="657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9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0F37-4C5C-B949-25F8-73781B68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0"/>
            <a:ext cx="10515600" cy="1116811"/>
          </a:xfrm>
        </p:spPr>
        <p:txBody>
          <a:bodyPr/>
          <a:lstStyle/>
          <a:p>
            <a:r>
              <a:rPr lang="en-US" dirty="0"/>
              <a:t>Error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F481DC-0F5C-4496-3A29-19714E87C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771297"/>
              </p:ext>
            </p:extLst>
          </p:nvPr>
        </p:nvGraphicFramePr>
        <p:xfrm>
          <a:off x="362712" y="2697480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877472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699250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8524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Predicted: Stay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Predicted: Churn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967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Actual: Stay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1,360 (TN)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 (FP)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06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Actual: Churn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 (FN)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258 (TP)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1204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9B2792-3F1F-6196-EF1F-A19960C67612}"/>
              </a:ext>
            </a:extLst>
          </p:cNvPr>
          <p:cNvSpPr txBox="1"/>
          <p:nvPr/>
        </p:nvSpPr>
        <p:spPr>
          <a:xfrm>
            <a:off x="362712" y="1975103"/>
            <a:ext cx="104180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Confusion Matrix (Logistic Regression - Leakage-Cleaned Model on Test Set):</a:t>
            </a:r>
          </a:p>
          <a:p>
            <a:pPr>
              <a:buNone/>
            </a:pPr>
            <a:endParaRPr lang="en-US" sz="2400" b="1" dirty="0">
              <a:effectLst/>
            </a:endParaRP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>
              <a:effectLst/>
            </a:endParaRP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>
              <a:effectLst/>
            </a:endParaRPr>
          </a:p>
          <a:p>
            <a:r>
              <a:rPr lang="en-US" sz="2400" b="1" dirty="0"/>
              <a:t>Total Test Cases</a:t>
            </a:r>
            <a:r>
              <a:rPr lang="en-US" sz="2400" dirty="0"/>
              <a:t>: 1,621 | </a:t>
            </a:r>
            <a:r>
              <a:rPr lang="en-US" sz="2400" b="1" dirty="0"/>
              <a:t>Total Errors</a:t>
            </a:r>
            <a:r>
              <a:rPr lang="en-US" sz="2400" dirty="0"/>
              <a:t>: 3 (0.19% error rate)</a:t>
            </a:r>
          </a:p>
        </p:txBody>
      </p:sp>
    </p:spTree>
    <p:extLst>
      <p:ext uri="{BB962C8B-B14F-4D97-AF65-F5344CB8AC3E}">
        <p14:creationId xmlns:p14="http://schemas.microsoft.com/office/powerpoint/2010/main" val="4104778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62E5-73EF-00E1-C03C-17C9532A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C58B-1A06-8CF7-6403-C7407AC3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0"/>
            <a:ext cx="10515600" cy="1116811"/>
          </a:xfrm>
        </p:spPr>
        <p:txBody>
          <a:bodyPr/>
          <a:lstStyle/>
          <a:p>
            <a:r>
              <a:rPr lang="en-US" dirty="0"/>
              <a:t>Error Analysis (Continued)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F7F10-EF86-8A16-C490-70E5894148D4}"/>
              </a:ext>
            </a:extLst>
          </p:cNvPr>
          <p:cNvSpPr txBox="1"/>
          <p:nvPr/>
        </p:nvSpPr>
        <p:spPr>
          <a:xfrm>
            <a:off x="362712" y="1841242"/>
            <a:ext cx="104180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Where the Model Excels: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Perfect precision for non-churners</a:t>
            </a:r>
            <a:r>
              <a:rPr lang="en-US" sz="1600" dirty="0"/>
              <a:t>: Zero false positives—no customers incorrectly flagged as churn risks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99.9% recall for churners</a:t>
            </a:r>
            <a:r>
              <a:rPr lang="en-US" sz="1600" dirty="0"/>
              <a:t>: Only 3 out of 261 churning customers missed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High-confidence predictions</a:t>
            </a:r>
            <a:r>
              <a:rPr lang="en-US" sz="1600" dirty="0"/>
              <a:t>: Model correctly identifies 99.8% of all cases</a:t>
            </a:r>
          </a:p>
          <a:p>
            <a:endParaRPr lang="en-US" sz="1600" dirty="0"/>
          </a:p>
          <a:p>
            <a:r>
              <a:rPr lang="en-US" sz="1600" b="1" dirty="0"/>
              <a:t>Where the Model Struggles: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False Negatives (3 cases)</a:t>
            </a:r>
            <a:r>
              <a:rPr lang="en-US" sz="1600" dirty="0"/>
              <a:t>: Customers who appeared engaged but churned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Characteristics</a:t>
            </a:r>
            <a:r>
              <a:rPr lang="en-US" sz="1600" dirty="0"/>
              <a:t>: Mid-range satisfaction scores (3.0-3.5), conflicting engagement signals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Likely causes</a:t>
            </a:r>
            <a:r>
              <a:rPr lang="en-US" sz="1600" dirty="0"/>
              <a:t>: External factors not captured in data (competitor offers, relocation, life events)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Example pattern</a:t>
            </a:r>
            <a:r>
              <a:rPr lang="en-US" sz="1600" dirty="0"/>
              <a:t>: Long-tenure customer with recent satisfaction dip but still active</a:t>
            </a:r>
          </a:p>
          <a:p>
            <a:endParaRPr lang="en-US" sz="1600" dirty="0"/>
          </a:p>
          <a:p>
            <a:r>
              <a:rPr lang="en-US" sz="1600" b="1" dirty="0"/>
              <a:t>Business Implications: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Low false alarm rate (0 FP)</a:t>
            </a:r>
            <a:r>
              <a:rPr lang="en-US" sz="1600" dirty="0"/>
              <a:t>: Retention team won't waste resources on stable customers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Minimal missed opportunities (3 FN)</a:t>
            </a:r>
            <a:r>
              <a:rPr lang="en-US" sz="1600" dirty="0"/>
              <a:t>: Only 1.1% of churners slip through undetected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Cost-benefit</a:t>
            </a:r>
            <a:r>
              <a:rPr lang="en-US" sz="1600" dirty="0"/>
              <a:t>: Model enables targeted intervention with 99%+ precision</a:t>
            </a:r>
          </a:p>
          <a:p>
            <a:endParaRPr lang="en-US" sz="1600" dirty="0"/>
          </a:p>
          <a:p>
            <a:r>
              <a:rPr lang="en-US" sz="1600" b="1" dirty="0"/>
              <a:t>Mitigation Strategy: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Flag customers with satisfaction scores 3.0-3.5 for manual review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Collect additional features: customer service interactions, competitor activity, life event indicators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 quarterly model retraining to capture emerging churn patterns</a:t>
            </a:r>
          </a:p>
        </p:txBody>
      </p:sp>
    </p:spTree>
    <p:extLst>
      <p:ext uri="{BB962C8B-B14F-4D97-AF65-F5344CB8AC3E}">
        <p14:creationId xmlns:p14="http://schemas.microsoft.com/office/powerpoint/2010/main" val="3945417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3EEE-8199-33D0-C385-09E23A8E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Churn Predictors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1EB4-E3AA-FF7D-7ADD-16B59194E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b="1" dirty="0"/>
              <a:t>Top 10 Most Important Features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Satisfaction Score</a:t>
            </a:r>
          </a:p>
          <a:p>
            <a:pPr lvl="1"/>
            <a:r>
              <a:rPr lang="en-US" dirty="0"/>
              <a:t>NPS Score</a:t>
            </a:r>
          </a:p>
          <a:p>
            <a:pPr lvl="1"/>
            <a:r>
              <a:rPr lang="en-US" dirty="0"/>
              <a:t>Digital Engagement Index</a:t>
            </a:r>
          </a:p>
          <a:p>
            <a:pPr lvl="1"/>
            <a:r>
              <a:rPr lang="en-US" dirty="0"/>
              <a:t>Customer Lifetime Value</a:t>
            </a:r>
          </a:p>
          <a:p>
            <a:pPr lvl="1"/>
            <a:r>
              <a:rPr lang="en-US" dirty="0"/>
              <a:t>Tenure (months)</a:t>
            </a:r>
          </a:p>
          <a:p>
            <a:pPr lvl="1"/>
            <a:r>
              <a:rPr lang="en-US" dirty="0"/>
              <a:t>Number of Products</a:t>
            </a:r>
          </a:p>
          <a:p>
            <a:pPr lvl="1"/>
            <a:r>
              <a:rPr lang="en-US" dirty="0"/>
              <a:t>Average Monthly Balance</a:t>
            </a:r>
          </a:p>
          <a:p>
            <a:pPr lvl="1"/>
            <a:r>
              <a:rPr lang="en-US" dirty="0"/>
              <a:t>Total Transaction Count</a:t>
            </a:r>
          </a:p>
          <a:p>
            <a:pPr lvl="1"/>
            <a:r>
              <a:rPr lang="en-US" dirty="0"/>
              <a:t>Monthly Transaction Count</a:t>
            </a:r>
          </a:p>
          <a:p>
            <a:pPr lvl="1"/>
            <a:r>
              <a:rPr lang="en-US" dirty="0"/>
              <a:t>Age</a:t>
            </a:r>
          </a:p>
          <a:p>
            <a:pPr lvl="0"/>
            <a:r>
              <a:rPr lang="en-US" b="1" dirty="0"/>
              <a:t>Actionable Insight</a:t>
            </a:r>
            <a:r>
              <a:rPr lang="en-US" dirty="0"/>
              <a:t>: Focus retention efforts on customers with declining satisfaction, low NPS, and reduced digital engagement</a:t>
            </a:r>
          </a:p>
        </p:txBody>
      </p:sp>
    </p:spTree>
    <p:extLst>
      <p:ext uri="{BB962C8B-B14F-4D97-AF65-F5344CB8AC3E}">
        <p14:creationId xmlns:p14="http://schemas.microsoft.com/office/powerpoint/2010/main" val="2886368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2CBA72-869C-52B8-AF4E-A3DEA52C0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00788"/>
            <a:ext cx="7232904" cy="666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70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33049-20CE-99D1-4EB1-D741CFD3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-10693"/>
            <a:ext cx="7270442" cy="678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8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1DD8-7E3F-F845-47D0-5EE4A452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Strategic Recommendations for Churn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AB69-BC2B-E7CB-A2F7-0F823608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i="0" dirty="0"/>
              <a:t>Proactive Monitoring</a:t>
            </a:r>
            <a:r>
              <a:rPr lang="en-US" i="0" dirty="0"/>
              <a:t>: Implement real-time churn risk scoring using the model</a:t>
            </a:r>
          </a:p>
          <a:p>
            <a:pPr lvl="1"/>
            <a:r>
              <a:rPr lang="en-US" b="1" i="0" dirty="0"/>
              <a:t>Targeted Interventions</a:t>
            </a:r>
            <a:r>
              <a:rPr lang="en-US" i="0" dirty="0"/>
              <a:t>: Focus on customers with satisfaction scores &lt; 3.0 and NPS &lt; 0</a:t>
            </a:r>
          </a:p>
          <a:p>
            <a:pPr lvl="1"/>
            <a:r>
              <a:rPr lang="en-US" b="1" i="0" dirty="0"/>
              <a:t>Product Cross-Selling</a:t>
            </a:r>
            <a:r>
              <a:rPr lang="en-US" i="0" dirty="0"/>
              <a:t>: Encourage single-product customers to adopt additional services</a:t>
            </a:r>
          </a:p>
          <a:p>
            <a:pPr lvl="1"/>
            <a:r>
              <a:rPr lang="en-US" b="1" i="0" dirty="0"/>
              <a:t>Digital Engagement Programs</a:t>
            </a:r>
            <a:r>
              <a:rPr lang="en-US" i="0" dirty="0"/>
              <a:t>: Incentivize mobile/online banking adoption</a:t>
            </a:r>
          </a:p>
          <a:p>
            <a:pPr lvl="1"/>
            <a:r>
              <a:rPr lang="en-US" b="1" i="0" dirty="0"/>
              <a:t>Early Tenure Support</a:t>
            </a:r>
            <a:r>
              <a:rPr lang="en-US" i="0" dirty="0"/>
              <a:t>: Enhanced onboarding for customers in first 24 months</a:t>
            </a:r>
          </a:p>
          <a:p>
            <a:pPr lvl="0"/>
            <a:r>
              <a:rPr lang="en-US" b="1" dirty="0"/>
              <a:t>Expected Impact</a:t>
            </a:r>
            <a:r>
              <a:rPr lang="en-US" dirty="0"/>
              <a:t>: 30-40% reduction in churn rate through targeted retention campaigns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11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912F-9E7E-C48C-CE04-E129D4FA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Bias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C074-6C93-8829-50A9-773BA874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Limitations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Model trained on historical data; may not capture emerging churn patterns</a:t>
            </a:r>
          </a:p>
          <a:p>
            <a:pPr lvl="1"/>
            <a:r>
              <a:rPr lang="en-US" dirty="0"/>
              <a:t>Requires regular retraining to maintain accuracy</a:t>
            </a:r>
          </a:p>
          <a:p>
            <a:pPr lvl="1"/>
            <a:r>
              <a:rPr lang="en-US" dirty="0"/>
              <a:t>Interpretability challenges with ensemble models (</a:t>
            </a:r>
            <a:r>
              <a:rPr lang="en-US" dirty="0" err="1"/>
              <a:t>XGBoost</a:t>
            </a:r>
            <a:r>
              <a:rPr lang="en-US" dirty="0"/>
              <a:t>, Random Forest)</a:t>
            </a:r>
          </a:p>
          <a:p>
            <a:pPr marL="0" lvl="0" indent="0">
              <a:buNone/>
            </a:pPr>
            <a:r>
              <a:rPr lang="en-US" b="1" dirty="0"/>
              <a:t>Bias &amp; Fairness Considerations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Potential demographic bias if certain groups underrepresented</a:t>
            </a:r>
          </a:p>
          <a:p>
            <a:pPr lvl="1"/>
            <a:r>
              <a:rPr lang="en-US" dirty="0"/>
              <a:t>Risk of discriminatory targeting if not monitored</a:t>
            </a:r>
          </a:p>
          <a:p>
            <a:pPr lvl="1"/>
            <a:r>
              <a:rPr lang="en-US" dirty="0"/>
              <a:t>Recommendation: Regular fairness audits across age, gender, income segments</a:t>
            </a:r>
          </a:p>
          <a:p>
            <a:pPr marL="0" lvl="0" indent="0">
              <a:buNone/>
            </a:pPr>
            <a:r>
              <a:rPr lang="en-US" b="1" dirty="0"/>
              <a:t>Mitigation Strategies</a:t>
            </a:r>
            <a:r>
              <a:rPr lang="en-US" dirty="0"/>
              <a:t>: Diverse training data, fairness metrics monitoring, human oversight in retention decisions</a:t>
            </a:r>
          </a:p>
        </p:txBody>
      </p:sp>
    </p:spTree>
    <p:extLst>
      <p:ext uri="{BB962C8B-B14F-4D97-AF65-F5344CB8AC3E}">
        <p14:creationId xmlns:p14="http://schemas.microsoft.com/office/powerpoint/2010/main" val="4145834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B6B8-664F-F7E1-81FB-76C994E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Steps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E74EC-0395-F309-EDB3-663C398D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Deep Learning Exploration</a:t>
            </a:r>
            <a:r>
              <a:rPr lang="en-US" dirty="0"/>
              <a:t>: Test LSTM/GRU models for temporal churn patterns</a:t>
            </a:r>
          </a:p>
          <a:p>
            <a:pPr lvl="0"/>
            <a:r>
              <a:rPr lang="en-US" b="1" dirty="0"/>
              <a:t>Real-Time Deployment</a:t>
            </a:r>
            <a:r>
              <a:rPr lang="en-US" dirty="0"/>
              <a:t>: Integrate model into CRM system for live scoring</a:t>
            </a:r>
          </a:p>
          <a:p>
            <a:pPr lvl="0"/>
            <a:r>
              <a:rPr lang="en-US" b="1" dirty="0"/>
              <a:t>Explainability Tools</a:t>
            </a:r>
            <a:r>
              <a:rPr lang="en-US" dirty="0"/>
              <a:t>: Implement SHAP/LIME for individual prediction explanations</a:t>
            </a:r>
          </a:p>
          <a:p>
            <a:pPr lvl="0"/>
            <a:r>
              <a:rPr lang="en-US" b="1" dirty="0"/>
              <a:t>A/B Testing</a:t>
            </a:r>
            <a:r>
              <a:rPr lang="en-US" dirty="0"/>
              <a:t>: Validate retention campaign effectiveness using model predictions</a:t>
            </a:r>
          </a:p>
          <a:p>
            <a:pPr lvl="0"/>
            <a:r>
              <a:rPr lang="en-US" b="1" dirty="0"/>
              <a:t>Feature Engineering</a:t>
            </a:r>
            <a:r>
              <a:rPr lang="en-US" dirty="0"/>
              <a:t>: Incorporate customer service interaction data</a:t>
            </a:r>
          </a:p>
          <a:p>
            <a:pPr lvl="0"/>
            <a:r>
              <a:rPr lang="en-US" b="1" dirty="0"/>
              <a:t>Multi-Class Prediction</a:t>
            </a:r>
            <a:r>
              <a:rPr lang="en-US" dirty="0"/>
              <a:t>: Predict churn timing (30/60/90 days)</a:t>
            </a:r>
          </a:p>
          <a:p>
            <a:pPr lvl="0"/>
            <a:r>
              <a:rPr lang="en-US" b="1" dirty="0"/>
              <a:t>Cost-Sensitive Learning</a:t>
            </a:r>
            <a:r>
              <a:rPr lang="en-US" dirty="0"/>
              <a:t>: Optimize for business value, not just accuracy</a:t>
            </a:r>
          </a:p>
        </p:txBody>
      </p:sp>
    </p:spTree>
    <p:extLst>
      <p:ext uri="{BB962C8B-B14F-4D97-AF65-F5344CB8AC3E}">
        <p14:creationId xmlns:p14="http://schemas.microsoft.com/office/powerpoint/2010/main" val="16405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50AE-CAFD-6349-777A-59EE3C5F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0D833-A362-C641-A5C7-1214980A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Achievement</a:t>
            </a:r>
            <a:r>
              <a:rPr lang="en-US" dirty="0"/>
              <a:t>: Developed highly accurate churn prediction models (ROC-AUC: 0.9996-0.9999)</a:t>
            </a:r>
          </a:p>
          <a:p>
            <a:pPr lvl="0"/>
            <a:r>
              <a:rPr lang="en-US" b="1" dirty="0"/>
              <a:t>Hypothesis</a:t>
            </a:r>
            <a:r>
              <a:rPr lang="en-US" dirty="0"/>
              <a:t>: Successfully validated engagement-churn relationship</a:t>
            </a:r>
          </a:p>
          <a:p>
            <a:pPr lvl="0"/>
            <a:r>
              <a:rPr lang="en-US" b="1" dirty="0"/>
              <a:t>Business Value</a:t>
            </a:r>
            <a:r>
              <a:rPr lang="en-US" dirty="0"/>
              <a:t>: Enables proactive retention strategies, potential 30-40% churn reduction</a:t>
            </a:r>
          </a:p>
          <a:p>
            <a:pPr lvl="0"/>
            <a:r>
              <a:rPr lang="en-US" b="1" dirty="0"/>
              <a:t>Technical Rigor</a:t>
            </a:r>
            <a:r>
              <a:rPr lang="en-US" dirty="0"/>
              <a:t>: Comprehensive evaluation with statistical validation</a:t>
            </a:r>
          </a:p>
          <a:p>
            <a:pPr lvl="0"/>
            <a:r>
              <a:rPr lang="en-US" b="1" dirty="0"/>
              <a:t>Deliverables</a:t>
            </a:r>
            <a:r>
              <a:rPr lang="en-US" dirty="0"/>
              <a:t>: Production-ready model, actionable insights, implementation roadmap</a:t>
            </a:r>
          </a:p>
          <a:p>
            <a:pPr lvl="0"/>
            <a:r>
              <a:rPr lang="en-US" b="1" dirty="0"/>
              <a:t>Next Steps</a:t>
            </a:r>
            <a:r>
              <a:rPr lang="en-US" dirty="0"/>
              <a:t>: Deploy pilot program, monitor performance, iterate based on results</a:t>
            </a:r>
          </a:p>
        </p:txBody>
      </p:sp>
    </p:spTree>
    <p:extLst>
      <p:ext uri="{BB962C8B-B14F-4D97-AF65-F5344CB8AC3E}">
        <p14:creationId xmlns:p14="http://schemas.microsoft.com/office/powerpoint/2010/main" val="1891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A6B5-4F7D-A61C-124D-9461992C7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/>
              <a:t>Thank You </a:t>
            </a:r>
            <a:r>
              <a:rPr lang="en-US" sz="6600" dirty="0"/>
              <a:t>Questions?</a:t>
            </a:r>
          </a:p>
          <a:p>
            <a:pPr marL="0" indent="0" algn="ctr">
              <a:buNone/>
            </a:pPr>
            <a:r>
              <a:rPr lang="en-US" sz="2000" dirty="0">
                <a:hlinkClick r:id="rId2"/>
              </a:rPr>
              <a:t>https://github.com/gthammana-spec/MSDS640-coursework/tree/main/database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490561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3306</TotalTime>
  <Words>1633</Words>
  <Application>Microsoft Office PowerPoint</Application>
  <PresentationFormat>Widescreen</PresentationFormat>
  <Paragraphs>241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Felix Titling</vt:lpstr>
      <vt:lpstr>Goudy Old Style</vt:lpstr>
      <vt:lpstr>Archway</vt:lpstr>
      <vt:lpstr>Customer Churn Prediction in Banking</vt:lpstr>
      <vt:lpstr>OUTLIne</vt:lpstr>
      <vt:lpstr>The Challenge of Customer Churn</vt:lpstr>
      <vt:lpstr>Hypothesis &amp; Research Question</vt:lpstr>
      <vt:lpstr>Technical Approach &amp; Methodology</vt:lpstr>
      <vt:lpstr>Hyperparameter Tuning</vt:lpstr>
      <vt:lpstr>Key Dataset Characteristics</vt:lpstr>
      <vt:lpstr>Data Preprocessing &amp; Feature Engineering</vt:lpstr>
      <vt:lpstr>Exceptional Model Performance Achieved</vt:lpstr>
      <vt:lpstr>PowerPoint Presentation</vt:lpstr>
      <vt:lpstr>Statistical Significance Testing</vt:lpstr>
      <vt:lpstr>PowerPoint Presentation</vt:lpstr>
      <vt:lpstr>Hypothesis Confirmed</vt:lpstr>
      <vt:lpstr>PowerPoint Presentation</vt:lpstr>
      <vt:lpstr>PowerPoint Presentation</vt:lpstr>
      <vt:lpstr>Error Analysis</vt:lpstr>
      <vt:lpstr>Error Analysis (Continued)</vt:lpstr>
      <vt:lpstr>Top Churn Predictors Identified</vt:lpstr>
      <vt:lpstr>PowerPoint Presentation</vt:lpstr>
      <vt:lpstr>PowerPoint Presentation</vt:lpstr>
      <vt:lpstr>Strategic Recommendations for Churn Reduction</vt:lpstr>
      <vt:lpstr>Limitations &amp; Bias Mitigation</vt:lpstr>
      <vt:lpstr>Next Steps &amp; Future Enhancements</vt:lpstr>
      <vt:lpstr>Project Summary &amp;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Thammana</dc:creator>
  <cp:lastModifiedBy>Ganesh Thammana</cp:lastModifiedBy>
  <cp:revision>9</cp:revision>
  <dcterms:created xsi:type="dcterms:W3CDTF">2026-08-04T14:38:21Z</dcterms:created>
  <dcterms:modified xsi:type="dcterms:W3CDTF">2026-08-06T21:51:00Z</dcterms:modified>
</cp:coreProperties>
</file>